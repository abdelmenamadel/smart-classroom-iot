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2386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5D0C7-EFE4-1957-31CD-5B66A4D9D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F567E6-40CB-7D06-83DB-CDA5666A01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F4C2D6-1B7A-7777-BE24-D4405F905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159F1-5DBC-6748-AF63-2F468A2D0E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32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5285232" y="0"/>
            <a:ext cx="36576" cy="51435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200" dirty="0">
                <a:solidFill>
                  <a:srgbClr val="2E86D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CLASSROOM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6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IoT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Final Project  ·  CS433  ·  Benha University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337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4572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Abdelmoneim Adel Abdelmoneim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835908"/>
            <a:ext cx="4572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Mahmoud Ahmed Abd El-Fattah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059936"/>
            <a:ext cx="4572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Muhammad Ibrahim Muhammad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4283964"/>
            <a:ext cx="4572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Abdelrahman Amr Mohammed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4507992"/>
            <a:ext cx="4572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Mahmoud Ahmed Hosny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32020"/>
            <a:ext cx="4572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Kamal Sayed Kamal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77840" y="3657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🏫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5669280" y="1417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Source Code</a:t>
            </a:r>
            <a:endParaRPr lang="en-US" sz="1000" dirty="0"/>
          </a:p>
        </p:txBody>
      </p:sp>
      <p:pic>
        <p:nvPicPr>
          <p:cNvPr id="19" name="Image 0" descr="/mnt/user-data/uploads/qrcode_346619571_f303dddb5167d3c832894e7fbc60d7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37360"/>
            <a:ext cx="2011680" cy="20116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577840" y="37947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github.com/AbdelmenamAdel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577840" y="40690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 – 2026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86384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 We're Solving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06908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087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4356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Waste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76479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 left ON in empty classrooms with no automated control system.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234440"/>
            <a:ext cx="406908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5087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4356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Climate Control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532120" y="176479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humidity never monitored — impacts student focus.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11480" y="2926080"/>
            <a:ext cx="406908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0040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31272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Attendance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88720" y="345643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automated system to count students entering/leaving.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2926080"/>
            <a:ext cx="406908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20040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32120" y="31272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Remote Control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532120" y="345643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managers can't control or monitor classrooms remotely.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786384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four-layer smart ecosystem that monitors, controls &amp; visualizes your classroom in real-time.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1965960" cy="3108960"/>
          </a:xfrm>
          <a:prstGeom prst="rect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1965960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" name="Text 6"/>
          <p:cNvSpPr/>
          <p:nvPr/>
        </p:nvSpPr>
        <p:spPr>
          <a:xfrm>
            <a:off x="457200" y="163677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10312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8346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Layer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333756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 + DHT11 + IR Sensors + Relay + LDR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560320" y="1600200"/>
            <a:ext cx="1965960" cy="3108960"/>
          </a:xfrm>
          <a:prstGeom prst="rect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3" name="Shape 10"/>
          <p:cNvSpPr/>
          <p:nvPr/>
        </p:nvSpPr>
        <p:spPr>
          <a:xfrm>
            <a:off x="2560320" y="1600200"/>
            <a:ext cx="1965960" cy="36576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4" name="Text 11"/>
          <p:cNvSpPr/>
          <p:nvPr/>
        </p:nvSpPr>
        <p:spPr>
          <a:xfrm>
            <a:off x="2606040" y="163677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210312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51760" y="28346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MQTT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651760" y="333756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Realtime DB + Mosquitto Broker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709160" y="1600200"/>
            <a:ext cx="1965960" cy="3108960"/>
          </a:xfrm>
          <a:prstGeom prst="rect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9" name="Shape 15"/>
          <p:cNvSpPr/>
          <p:nvPr/>
        </p:nvSpPr>
        <p:spPr>
          <a:xfrm>
            <a:off x="4709160" y="1600200"/>
            <a:ext cx="1965960" cy="36576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0" name="Text 16"/>
          <p:cNvSpPr/>
          <p:nvPr/>
        </p:nvSpPr>
        <p:spPr>
          <a:xfrm>
            <a:off x="4754880" y="163677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672" y="2103120"/>
            <a:ext cx="640080" cy="6400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00600" y="28346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Layer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800600" y="333756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Simulator + Web Simulator (WebSockets)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858000" y="1600200"/>
            <a:ext cx="1965960" cy="3108960"/>
          </a:xfrm>
          <a:prstGeom prst="rect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5" name="Shape 20"/>
          <p:cNvSpPr/>
          <p:nvPr/>
        </p:nvSpPr>
        <p:spPr>
          <a:xfrm>
            <a:off x="6858000" y="1600200"/>
            <a:ext cx="1965960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6" name="Text 21"/>
          <p:cNvSpPr/>
          <p:nvPr/>
        </p:nvSpPr>
        <p:spPr>
          <a:xfrm>
            <a:off x="6903720" y="163677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5512" y="2103120"/>
            <a:ext cx="640080" cy="6400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49440" y="28346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949440" y="333756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+ Zoom Drawer + FL Chart + Glassmorphism UI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786384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LAYER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Hardware Components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6517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087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43560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34440" y="1801368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Humidity Sensor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234440"/>
            <a:ext cx="26517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50876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69080" y="143560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IR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069080" y="1801368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Bi-directional Student Counter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80760" y="1234440"/>
            <a:ext cx="26517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50876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03720" y="143560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903720" y="1801368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Light Detection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11480" y="2926080"/>
            <a:ext cx="26517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312724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234440" y="3493008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Control Actuator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246120" y="2926080"/>
            <a:ext cx="26517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3200400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069080" y="312724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4069080" y="3493008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NodeMCU Gateway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080760" y="2926080"/>
            <a:ext cx="26517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3200400"/>
            <a:ext cx="502920" cy="5029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03720" y="312724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Simulators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6903720" y="3493008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+ Web Testing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786384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Three-Tier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2651760" cy="3611880"/>
          </a:xfrm>
          <a:prstGeom prst="rect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2651760" cy="5029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484632" y="1261872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 1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82880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560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Layer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29992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 NodeMCU Gateway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351129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· IR Sensors · LDR · Relay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4023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Web IoT Simulators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1188720"/>
            <a:ext cx="2651760" cy="3611880"/>
          </a:xfrm>
          <a:prstGeom prst="rect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4" name="Shape 11"/>
          <p:cNvSpPr/>
          <p:nvPr/>
        </p:nvSpPr>
        <p:spPr>
          <a:xfrm>
            <a:off x="3246120" y="1188720"/>
            <a:ext cx="2651760" cy="50292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5" name="Text 12"/>
          <p:cNvSpPr/>
          <p:nvPr/>
        </p:nvSpPr>
        <p:spPr>
          <a:xfrm>
            <a:off x="3319272" y="1261872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 2</a:t>
            </a:r>
            <a:endParaRPr lang="en-US" sz="14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828800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37560" y="2560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MQTT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383280" y="29992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Realtime Database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383280" y="351129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MQTT Broker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383280" y="4023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Dual-protocol architecture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080760" y="1188720"/>
            <a:ext cx="2651760" cy="3611880"/>
          </a:xfrm>
          <a:prstGeom prst="rect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2" name="Shape 18"/>
          <p:cNvSpPr/>
          <p:nvPr/>
        </p:nvSpPr>
        <p:spPr>
          <a:xfrm>
            <a:off x="6080760" y="1188720"/>
            <a:ext cx="2651760" cy="50292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3" name="Text 19"/>
          <p:cNvSpPr/>
          <p:nvPr/>
        </p:nvSpPr>
        <p:spPr>
          <a:xfrm>
            <a:off x="6153912" y="1261872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 3</a:t>
            </a:r>
            <a:endParaRPr lang="en-US" sz="14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828800"/>
            <a:ext cx="640080" cy="6400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72200" y="2560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6217920" y="29992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/ Cubit State Management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217920" y="351129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Drawer Navigation UI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217920" y="4023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Chart + Glassmorphism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1691640" y="2971800"/>
            <a:ext cx="365760" cy="45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0" name="Shape 25"/>
          <p:cNvSpPr/>
          <p:nvPr/>
        </p:nvSpPr>
        <p:spPr>
          <a:xfrm>
            <a:off x="4526280" y="2971800"/>
            <a:ext cx="365760" cy="45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1" name="Text 26"/>
          <p:cNvSpPr/>
          <p:nvPr/>
        </p:nvSpPr>
        <p:spPr>
          <a:xfrm>
            <a:off x="786384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Dual-Protocol Connectivity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runs Firebase AND MQTT simultaneously — best of both worlds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3931920" cy="3108960"/>
          </a:xfrm>
          <a:prstGeom prst="rect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69164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6060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Firebase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2971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Database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329184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Persistent cloud storage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4360" y="358444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Historical trend logging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4360" y="387705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Real-time listeners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4360" y="4169664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Auto-sync across devices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06240" y="2560320"/>
            <a:ext cx="731520" cy="731520"/>
          </a:xfrm>
          <a:prstGeom prst="lin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5" name="Text 12"/>
          <p:cNvSpPr/>
          <p:nvPr/>
        </p:nvSpPr>
        <p:spPr>
          <a:xfrm>
            <a:off x="4206240" y="26060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800600" y="1508760"/>
            <a:ext cx="3931920" cy="3108960"/>
          </a:xfrm>
          <a:prstGeom prst="rect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691640"/>
            <a:ext cx="822960" cy="8229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892040" y="26060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MQTT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892040" y="2971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Broker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892040" y="329184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Ultra-low latency &lt; 1s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892040" y="358444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Lightweight IoT protocol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892040" y="387705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Pub / Sub messaging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892040" y="4169664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Device control commands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786384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Flutter Mobile App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6517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576072" y="1554480"/>
            <a:ext cx="347472" cy="347472"/>
          </a:xfrm>
          <a:prstGeom prst="lin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563624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14356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Drawer Nav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33272" y="17830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Glassmorphism navigation drawer experience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1234440"/>
            <a:ext cx="26517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1" name="Shape 8"/>
          <p:cNvSpPr/>
          <p:nvPr/>
        </p:nvSpPr>
        <p:spPr>
          <a:xfrm>
            <a:off x="3410712" y="1554480"/>
            <a:ext cx="347472" cy="347472"/>
          </a:xfrm>
          <a:prstGeom prst="lin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56" y="1563624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67912" y="14356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867912" y="17830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Temperature, Humidity &amp; Student Count cards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0760" y="1234440"/>
            <a:ext cx="26517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6" name="Shape 12"/>
          <p:cNvSpPr/>
          <p:nvPr/>
        </p:nvSpPr>
        <p:spPr>
          <a:xfrm>
            <a:off x="6245352" y="1554480"/>
            <a:ext cx="347472" cy="347472"/>
          </a:xfrm>
          <a:prstGeom prst="lin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1563624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02552" y="14356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Chart History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702552" y="17830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line charts for historical sensor trends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11480" y="2926080"/>
            <a:ext cx="26517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1" name="Shape 16"/>
          <p:cNvSpPr/>
          <p:nvPr/>
        </p:nvSpPr>
        <p:spPr>
          <a:xfrm>
            <a:off x="576072" y="3246120"/>
            <a:ext cx="347472" cy="347472"/>
          </a:xfrm>
          <a:prstGeom prst="lin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" y="3255264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33272" y="31272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Control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33272" y="34747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classroom lights &amp; switch Auto / Manual mode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46120" y="2926080"/>
            <a:ext cx="26517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6" name="Shape 20"/>
          <p:cNvSpPr/>
          <p:nvPr/>
        </p:nvSpPr>
        <p:spPr>
          <a:xfrm>
            <a:off x="3410712" y="3246120"/>
            <a:ext cx="347472" cy="347472"/>
          </a:xfrm>
          <a:prstGeom prst="lin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9856" y="3255264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67912" y="31272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Simulator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867912" y="34747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mobile simulator — test without hardware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80760" y="2926080"/>
            <a:ext cx="26517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1" name="Shape 24"/>
          <p:cNvSpPr/>
          <p:nvPr/>
        </p:nvSpPr>
        <p:spPr>
          <a:xfrm>
            <a:off x="6245352" y="3246120"/>
            <a:ext cx="347472" cy="347472"/>
          </a:xfrm>
          <a:prstGeom prst="lin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3255264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02552" y="31272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Architecture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702552" y="34747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state management with Cubit pattern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786384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HIGHLIGHTS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 The Numbers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651760" cy="1508760"/>
          </a:xfrm>
          <a:prstGeom prst="rect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02920" y="20756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38658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+ MQTT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51760" cy="1508760"/>
          </a:xfrm>
          <a:prstGeom prst="rect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3337560" y="13716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3337560" y="20756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38658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+ 2×IR + LDR + Relay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0760" y="1234440"/>
            <a:ext cx="2651760" cy="1508760"/>
          </a:xfrm>
          <a:prstGeom prst="rect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4" name="Text 12"/>
          <p:cNvSpPr/>
          <p:nvPr/>
        </p:nvSpPr>
        <p:spPr>
          <a:xfrm>
            <a:off x="6172200" y="13716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&lt;1s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172200" y="20756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238658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update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926080"/>
            <a:ext cx="2651760" cy="1508760"/>
          </a:xfrm>
          <a:prstGeom prst="rect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8" name="Text 16"/>
          <p:cNvSpPr/>
          <p:nvPr/>
        </p:nvSpPr>
        <p:spPr>
          <a:xfrm>
            <a:off x="502920" y="3063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502920" y="37673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07822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QA coverage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2926080"/>
            <a:ext cx="2651760" cy="1508760"/>
          </a:xfrm>
          <a:prstGeom prst="rect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3337560" y="3063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3337560" y="37673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407822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+ Web + Embedded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0760" y="2926080"/>
            <a:ext cx="2651760" cy="1508760"/>
          </a:xfrm>
          <a:prstGeom prst="rect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6" name="Text 24"/>
          <p:cNvSpPr/>
          <p:nvPr/>
        </p:nvSpPr>
        <p:spPr>
          <a:xfrm>
            <a:off x="6172200" y="3063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600" dirty="0"/>
          </a:p>
        </p:txBody>
      </p:sp>
      <p:sp>
        <p:nvSpPr>
          <p:cNvPr id="27" name="Text 25"/>
          <p:cNvSpPr/>
          <p:nvPr/>
        </p:nvSpPr>
        <p:spPr>
          <a:xfrm>
            <a:off x="6172200" y="37673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72200" y="407822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 cases passed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86384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STRATEGY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Testing Methodology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test cases  ·  4 testing approaches  ·  100% pass rate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512064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411480" cy="411480"/>
          </a:xfrm>
          <a:prstGeom prst="lin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673352"/>
            <a:ext cx="393192" cy="393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60020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190195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cubits tested with mock data repositories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11480" y="2359152"/>
            <a:ext cx="512064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2" name="Shape 9"/>
          <p:cNvSpPr/>
          <p:nvPr/>
        </p:nvSpPr>
        <p:spPr>
          <a:xfrm>
            <a:off x="548640" y="2514600"/>
            <a:ext cx="411480" cy="411480"/>
          </a:xfrm>
          <a:prstGeom prst="lin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2523744"/>
            <a:ext cx="393192" cy="3931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245059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97280" y="27523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Simulator → MQTT → App → UI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11480" y="3209544"/>
            <a:ext cx="512064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411480" cy="411480"/>
          </a:xfrm>
          <a:prstGeom prst="lin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" y="3374136"/>
            <a:ext cx="393192" cy="3931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97280" y="3300984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Testing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097280" y="360273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classroom with ESP8266, DHT11, IR, Relay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11480" y="4059936"/>
            <a:ext cx="512064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2" name="Shape 17"/>
          <p:cNvSpPr/>
          <p:nvPr/>
        </p:nvSpPr>
        <p:spPr>
          <a:xfrm>
            <a:off x="548640" y="4215384"/>
            <a:ext cx="411480" cy="411480"/>
          </a:xfrm>
          <a:prstGeom prst="lin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4224528"/>
            <a:ext cx="393192" cy="39319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97280" y="4151376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Simulator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097280" y="44531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JSON payloads via WebSockets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669280" y="1508760"/>
            <a:ext cx="3063240" cy="333756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7" name="Text 21"/>
          <p:cNvSpPr/>
          <p:nvPr/>
        </p:nvSpPr>
        <p:spPr>
          <a:xfrm>
            <a:off x="5669280" y="17373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7200" dirty="0"/>
          </a:p>
        </p:txBody>
      </p:sp>
      <p:sp>
        <p:nvSpPr>
          <p:cNvPr id="28" name="Text 22"/>
          <p:cNvSpPr/>
          <p:nvPr/>
        </p:nvSpPr>
        <p:spPr>
          <a:xfrm>
            <a:off x="5669280" y="2514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5943600" y="2926080"/>
            <a:ext cx="2514600" cy="2743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0" name="Text 24"/>
          <p:cNvSpPr/>
          <p:nvPr/>
        </p:nvSpPr>
        <p:spPr>
          <a:xfrm>
            <a:off x="566928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400" dirty="0"/>
          </a:p>
        </p:txBody>
      </p:sp>
      <p:sp>
        <p:nvSpPr>
          <p:cNvPr id="31" name="Text 25"/>
          <p:cNvSpPr/>
          <p:nvPr/>
        </p:nvSpPr>
        <p:spPr>
          <a:xfrm>
            <a:off x="5669280" y="3657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5669280" y="404164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 cases passed ✔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786384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" y="54864"/>
            <a:ext cx="594360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" name="Shape 2"/>
          <p:cNvSpPr/>
          <p:nvPr/>
        </p:nvSpPr>
        <p:spPr>
          <a:xfrm>
            <a:off x="5925312" y="0"/>
            <a:ext cx="36576" cy="51435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Classroom IoT — CS433  ·  Benha University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5029200" cy="3657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4028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228600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github.com/AbdelmenamAdel/Smart-Classroom-IOT</a:t>
            </a:r>
            <a:endParaRPr lang="en-US" sz="11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9864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294436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  ·  Arduino C++  ·  Firebase  ·  MQTT</a:t>
            </a:r>
            <a:endParaRPr lang="en-US" sz="11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557016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360273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 ·  BLoC  ·  FL Chart  ·  Zoom Drawer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502920" y="4434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 – 2026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6035040" y="640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400" dirty="0"/>
          </a:p>
        </p:txBody>
      </p:sp>
      <p:pic>
        <p:nvPicPr>
          <p:cNvPr id="17" name="Image 3" descr="/mnt/user-data/uploads/qrcode_346619571_f303dddb5167d3c832894e7fbc60d7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1097280"/>
            <a:ext cx="2286000" cy="22860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35040" y="34564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with your phone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6035040" y="3840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Smart Classroom IoT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02F9A69-8571-618E-68CE-3C91CE4E7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7CABB2C-9C95-2A54-8F97-523E1FE75524}"/>
              </a:ext>
            </a:extLst>
          </p:cNvPr>
          <p:cNvSpPr/>
          <p:nvPr/>
        </p:nvSpPr>
        <p:spPr>
          <a:xfrm>
            <a:off x="18288" y="54864"/>
            <a:ext cx="594360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59A90FD-5303-383C-29CD-81CCFF0BED66}"/>
              </a:ext>
            </a:extLst>
          </p:cNvPr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A726F27-707F-5A71-ECE5-99F290870FDC}"/>
              </a:ext>
            </a:extLst>
          </p:cNvPr>
          <p:cNvSpPr/>
          <p:nvPr/>
        </p:nvSpPr>
        <p:spPr>
          <a:xfrm>
            <a:off x="5925312" y="0"/>
            <a:ext cx="36576" cy="51435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7ED0214-36C0-47CF-CDA7-105153A4F4A8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6B66030-CD08-EE2A-88C0-6D68BE2CA254}"/>
              </a:ext>
            </a:extLst>
          </p:cNvPr>
          <p:cNvSpPr/>
          <p:nvPr/>
        </p:nvSpPr>
        <p:spPr>
          <a:xfrm>
            <a:off x="1745060" y="2173143"/>
            <a:ext cx="3992799" cy="10511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5CD81EB8-B149-114A-DC0E-364F205931E4}"/>
              </a:ext>
            </a:extLst>
          </p:cNvPr>
          <p:cNvSpPr/>
          <p:nvPr/>
        </p:nvSpPr>
        <p:spPr>
          <a:xfrm>
            <a:off x="6035040" y="640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400" dirty="0"/>
          </a:p>
        </p:txBody>
      </p:sp>
      <p:pic>
        <p:nvPicPr>
          <p:cNvPr id="17" name="Image 3" descr="/mnt/user-data/uploads/qrcode_346619571_f303dddb5167d3c832894e7fbc60d7f0.png">
            <a:extLst>
              <a:ext uri="{FF2B5EF4-FFF2-40B4-BE49-F238E27FC236}">
                <a16:creationId xmlns:a16="http://schemas.microsoft.com/office/drawing/2014/main" id="{19986617-2621-0F9D-305B-C688E93C1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097280"/>
            <a:ext cx="2286000" cy="2286000"/>
          </a:xfrm>
          <a:prstGeom prst="rect">
            <a:avLst/>
          </a:prstGeom>
        </p:spPr>
      </p:pic>
      <p:sp>
        <p:nvSpPr>
          <p:cNvPr id="18" name="Text 12">
            <a:extLst>
              <a:ext uri="{FF2B5EF4-FFF2-40B4-BE49-F238E27FC236}">
                <a16:creationId xmlns:a16="http://schemas.microsoft.com/office/drawing/2014/main" id="{8C37D3F7-05B5-1FAF-F632-C1E662A739D9}"/>
              </a:ext>
            </a:extLst>
          </p:cNvPr>
          <p:cNvSpPr/>
          <p:nvPr/>
        </p:nvSpPr>
        <p:spPr>
          <a:xfrm>
            <a:off x="6035040" y="34564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with your phone</a:t>
            </a:r>
            <a:endParaRPr lang="en-US" sz="10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4790745C-AE42-FF1F-7C06-9F7040530ED6}"/>
              </a:ext>
            </a:extLst>
          </p:cNvPr>
          <p:cNvSpPr/>
          <p:nvPr/>
        </p:nvSpPr>
        <p:spPr>
          <a:xfrm>
            <a:off x="6035040" y="3840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Smart Classroom IoT</a:t>
            </a:r>
            <a:endParaRPr lang="en-US" sz="1300" dirty="0"/>
          </a:p>
        </p:txBody>
      </p:sp>
      <p:pic>
        <p:nvPicPr>
          <p:cNvPr id="20" name="Picture 19" descr="A person wearing glasses and a black jacket&#10;&#10;AI-generated content may be incorrect.">
            <a:extLst>
              <a:ext uri="{FF2B5EF4-FFF2-40B4-BE49-F238E27FC236}">
                <a16:creationId xmlns:a16="http://schemas.microsoft.com/office/drawing/2014/main" id="{78BE1FEE-F12C-F1CE-9E9F-891E08181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101018"/>
            <a:ext cx="1195437" cy="1195437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6388958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601</Words>
  <Application>Microsoft Macintosh PowerPoint</Application>
  <PresentationFormat>On-screen Show (16:9)</PresentationFormat>
  <Paragraphs>170</Paragraphs>
  <Slides>11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Classroom IoT</dc:title>
  <dc:subject>PptxGenJS Presentation</dc:subject>
  <dc:creator>Abdelmoneim Adel</dc:creator>
  <cp:lastModifiedBy>Abdelmoneim Adel</cp:lastModifiedBy>
  <cp:revision>4</cp:revision>
  <dcterms:created xsi:type="dcterms:W3CDTF">2026-05-09T08:51:05Z</dcterms:created>
  <dcterms:modified xsi:type="dcterms:W3CDTF">2026-05-09T09:03:53Z</dcterms:modified>
</cp:coreProperties>
</file>